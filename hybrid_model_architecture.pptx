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680575" cy="487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50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00" y="120000"/>
            <a:ext cx="5600000" cy="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</a:rPr>
              <a:t>面向多尺度时序预测的时域门控混合模型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00" y="640000"/>
            <a:ext cx="1120000" cy="24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00" y="704000"/>
            <a:ext cx="640000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输入模块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00" y="960000"/>
            <a:ext cx="880000" cy="52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0000" y="1000000"/>
            <a:ext cx="88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</a:rPr>
              <a:t>输入序列</a:t>
            </a:r>
          </a:p>
          <a:p>
            <a:pPr algn="ctr"/>
            <a:r>
              <a:rPr sz="1000" b="0">
                <a:solidFill>
                  <a:srgbClr val="1E40AF"/>
                </a:solidFill>
              </a:rPr>
              <a:t>PM2.5 (96×6)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000" y="1680000"/>
            <a:ext cx="880000" cy="44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000" y="1720000"/>
            <a:ext cx="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1E40AF"/>
                </a:solidFill>
              </a:rPr>
              <a:t>嵌入映射</a:t>
            </a:r>
            <a:endParaRPr sz="1300" b="1" dirty="0">
              <a:solidFill>
                <a:srgbClr val="1E40AF"/>
              </a:solidFill>
            </a:endParaRPr>
          </a:p>
          <a:p>
            <a:pPr algn="ctr"/>
            <a:r>
              <a:rPr sz="900" b="0" dirty="0">
                <a:solidFill>
                  <a:srgbClr val="1E40AF"/>
                </a:solidFill>
              </a:rPr>
              <a:t>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0000" y="1480000"/>
            <a:ext cx="0" cy="20000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0000" y="1896000"/>
            <a:ext cx="120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60000" y="640000"/>
            <a:ext cx="2400000" cy="24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4000" y="704000"/>
            <a:ext cx="960000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双路径编码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000" y="1000000"/>
            <a:ext cx="960000" cy="4000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20000" y="1024000"/>
            <a:ext cx="96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DLinear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0000" y="1000000"/>
            <a:ext cx="920000" cy="400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40000" y="1024000"/>
            <a:ext cx="92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47857"/>
                </a:solidFill>
              </a:rPr>
              <a:t>趋势-季节分解</a:t>
            </a:r>
          </a:p>
          <a:p>
            <a:pPr algn="ctr"/>
            <a:r>
              <a:rPr sz="900" b="0">
                <a:solidFill>
                  <a:srgbClr val="047857"/>
                </a:solidFill>
              </a:rPr>
              <a:t>Decomp + Linear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0000" y="1056000"/>
            <a:ext cx="240000" cy="2800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0000" y="1080000"/>
            <a:ext cx="2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y_D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000" y="1200000"/>
            <a:ext cx="160000" cy="0"/>
          </a:xfrm>
          <a:prstGeom prst="line">
            <a:avLst/>
          </a:prstGeom>
          <a:ln w="2540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60000" y="1200000"/>
            <a:ext cx="120000" cy="0"/>
          </a:xfrm>
          <a:prstGeom prst="line">
            <a:avLst/>
          </a:prstGeom>
          <a:ln w="2540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20000" y="1920000"/>
            <a:ext cx="960000" cy="400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20000" y="1944000"/>
            <a:ext cx="96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TimeXer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0000" y="1920000"/>
            <a:ext cx="920000" cy="4000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40000" y="1944000"/>
            <a:ext cx="92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B45309"/>
                </a:solidFill>
              </a:rPr>
              <a:t>自注意力映射</a:t>
            </a:r>
            <a:endParaRPr sz="1200" b="1" dirty="0">
              <a:solidFill>
                <a:srgbClr val="B45309"/>
              </a:solidFill>
            </a:endParaRPr>
          </a:p>
          <a:p>
            <a:pPr algn="ctr"/>
            <a:r>
              <a:rPr sz="900" b="0" dirty="0">
                <a:solidFill>
                  <a:srgbClr val="B45309"/>
                </a:solidFill>
              </a:rPr>
              <a:t>Attn + Project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80000" y="1976000"/>
            <a:ext cx="240000" cy="280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80000" y="2000000"/>
            <a:ext cx="2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y_T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80000" y="2120000"/>
            <a:ext cx="160000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60000" y="2120000"/>
            <a:ext cx="120000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40000" y="1896000"/>
            <a:ext cx="160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00000" y="1200000"/>
            <a:ext cx="0" cy="9200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00000" y="1200000"/>
            <a:ext cx="320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600000" y="2120000"/>
            <a:ext cx="320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480000" y="640000"/>
            <a:ext cx="1440000" cy="24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44000" y="622886"/>
            <a:ext cx="12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1E293B"/>
                </a:solidFill>
              </a:rPr>
              <a:t>自适应门控</a:t>
            </a:r>
            <a:endParaRPr sz="1100" b="1" dirty="0">
              <a:solidFill>
                <a:srgbClr val="1E293B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600000" y="1000000"/>
            <a:ext cx="1200000" cy="4400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00000" y="1024000"/>
            <a:ext cx="1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6D28D9"/>
                </a:solidFill>
              </a:rPr>
              <a:t>时间门控</a:t>
            </a:r>
            <a:endParaRPr sz="1200" b="1" dirty="0">
              <a:solidFill>
                <a:srgbClr val="6D28D9"/>
              </a:solidFill>
            </a:endParaRPr>
          </a:p>
          <a:p>
            <a:pPr algn="ctr"/>
            <a:r>
              <a:rPr sz="1000" b="0" dirty="0">
                <a:solidFill>
                  <a:srgbClr val="6D28D9"/>
                </a:solidFill>
              </a:rPr>
              <a:t>Time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00000" y="1920000"/>
            <a:ext cx="1200000" cy="4400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00000" y="1944000"/>
            <a:ext cx="1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6D28D9"/>
                </a:solidFill>
              </a:rPr>
              <a:t>变量门控</a:t>
            </a:r>
            <a:endParaRPr sz="1200" b="1" dirty="0">
              <a:solidFill>
                <a:srgbClr val="6D28D9"/>
              </a:solidFill>
            </a:endParaRPr>
          </a:p>
          <a:p>
            <a:pPr algn="ctr"/>
            <a:r>
              <a:rPr lang="en-US" sz="1000" b="0" dirty="0">
                <a:solidFill>
                  <a:srgbClr val="6D28D9"/>
                </a:solidFill>
              </a:rPr>
              <a:t>Variable Gate</a:t>
            </a:r>
            <a:endParaRPr sz="1000" b="0" dirty="0">
              <a:solidFill>
                <a:srgbClr val="6D28D9"/>
              </a:solidFill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360000" y="1200000"/>
            <a:ext cx="240000" cy="1600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60000" y="2120000"/>
            <a:ext cx="240000" cy="1600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00000" y="1440000"/>
            <a:ext cx="0" cy="48000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40012" y="1535334"/>
            <a:ext cx="399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6D28D9"/>
                </a:solidFill>
              </a:rPr>
              <a:t>拼接</a:t>
            </a:r>
            <a:endParaRPr sz="900" b="0" dirty="0">
              <a:solidFill>
                <a:srgbClr val="6D28D9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240000" y="640000"/>
            <a:ext cx="1440000" cy="24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4000" y="704000"/>
            <a:ext cx="800000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融合输出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0000" y="1000000"/>
            <a:ext cx="1200000" cy="52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0000" y="1024000"/>
            <a:ext cx="1200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0F766E"/>
                </a:solidFill>
              </a:rPr>
              <a:t>加权融合</a:t>
            </a:r>
            <a:endParaRPr sz="1300" b="1" dirty="0">
              <a:solidFill>
                <a:srgbClr val="0F766E"/>
              </a:solidFill>
            </a:endParaRPr>
          </a:p>
          <a:p>
            <a:pPr algn="ctr"/>
            <a:r>
              <a:rPr sz="1000" b="0" dirty="0">
                <a:solidFill>
                  <a:srgbClr val="0F766E"/>
                </a:solidFill>
              </a:rPr>
              <a:t>Weighted Fusion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60000" y="1920000"/>
            <a:ext cx="1200000" cy="400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60000" y="1944000"/>
            <a:ext cx="1200000" cy="3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预测输出</a:t>
            </a:r>
            <a:endParaRPr sz="1300" b="1" dirty="0">
              <a:solidFill>
                <a:srgbClr val="FFFFFF"/>
              </a:solidFill>
            </a:endParaRPr>
          </a:p>
          <a:p>
            <a:pPr algn="ctr"/>
            <a:r>
              <a:rPr sz="1000" b="0" dirty="0" err="1">
                <a:solidFill>
                  <a:srgbClr val="CCFFFF"/>
                </a:solidFill>
              </a:rPr>
              <a:t>y_fused</a:t>
            </a:r>
            <a:endParaRPr sz="1000" b="0" dirty="0">
              <a:solidFill>
                <a:srgbClr val="CCFFFF"/>
              </a:solidFill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6960000" y="1520000"/>
            <a:ext cx="0" cy="40000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800000" y="1216000"/>
            <a:ext cx="28000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800000" y="2136000"/>
            <a:ext cx="28000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000" y="1216000"/>
            <a:ext cx="0" cy="92000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080000" y="1320000"/>
            <a:ext cx="28000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20000" y="3280000"/>
            <a:ext cx="7360000" cy="56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000" y="3344000"/>
            <a:ext cx="640000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模型优化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20000" y="3400000"/>
            <a:ext cx="1600000" cy="336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20000" y="3424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DC2626"/>
                </a:solidFill>
              </a:rPr>
              <a:t>尺度自适应损失</a:t>
            </a:r>
            <a:r>
              <a:rPr sz="1200" b="1" dirty="0">
                <a:solidFill>
                  <a:srgbClr val="DC2626"/>
                </a:solidFill>
              </a:rPr>
              <a:t> SAL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000" y="3400000"/>
            <a:ext cx="1200000" cy="33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60000" y="3424000"/>
            <a:ext cx="1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4B5563"/>
                </a:solidFill>
              </a:rPr>
              <a:t>真实值</a:t>
            </a:r>
            <a:endParaRPr sz="1200" b="1" dirty="0">
              <a:solidFill>
                <a:srgbClr val="4B5563"/>
              </a:solidFill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6960000" y="2320000"/>
            <a:ext cx="0" cy="48000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5120000" y="2800000"/>
            <a:ext cx="18400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120000" y="2800000"/>
            <a:ext cx="0" cy="60000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040000" y="2744000"/>
            <a:ext cx="480000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C2626"/>
                </a:solidFill>
              </a:rPr>
              <a:t>反向传播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760000" y="3568000"/>
            <a:ext cx="56000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20000" y="4000000"/>
            <a:ext cx="96000" cy="960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48000" y="3984000"/>
            <a:ext cx="640000" cy="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DLinear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80000" y="4000000"/>
            <a:ext cx="96000" cy="96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08000" y="3984000"/>
            <a:ext cx="640000" cy="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TimeXer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20000" y="4000000"/>
            <a:ext cx="96000" cy="960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48000" y="3984000"/>
            <a:ext cx="640000" cy="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门控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00000" y="4000000"/>
            <a:ext cx="96000" cy="96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328000" y="3984000"/>
            <a:ext cx="640000" cy="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融合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080000" y="4000000"/>
            <a:ext cx="96000" cy="960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08000" y="3984000"/>
            <a:ext cx="640000" cy="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损失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文浩 付</cp:lastModifiedBy>
  <cp:revision>3</cp:revision>
  <dcterms:created xsi:type="dcterms:W3CDTF">2013-01-27T09:14:16Z</dcterms:created>
  <dcterms:modified xsi:type="dcterms:W3CDTF">2026-05-28T02:56:48Z</dcterms:modified>
  <cp:category/>
</cp:coreProperties>
</file>